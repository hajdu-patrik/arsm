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3AED"/>
    <a:srgbClr val="F43F5E"/>
    <a:srgbClr val="10B981"/>
    <a:srgbClr val="191A1B"/>
    <a:srgbClr val="1E293B"/>
    <a:srgbClr val="9933FF"/>
    <a:srgbClr val="CBD5E1"/>
    <a:srgbClr val="F59E0B"/>
    <a:srgbClr val="1D4ED8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6965" autoAdjust="0"/>
  </p:normalViewPr>
  <p:slideViewPr>
    <p:cSldViewPr snapToGrid="0" snapToObjects="1">
      <p:cViewPr varScale="1">
        <p:scale>
          <a:sx n="200" d="100"/>
          <a:sy n="200" d="100"/>
        </p:scale>
        <p:origin x="654" y="4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196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4BC3-99D8-7835-9DDE-D4F8BDF31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39276-B189-A274-A8D2-044DB541F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C4410-E83B-3F92-9FB2-AE6AB032A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FBAF1-78FE-CA5B-83C8-8179FFB1F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42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Kép 11">
            <a:extLst>
              <a:ext uri="{FF2B5EF4-FFF2-40B4-BE49-F238E27FC236}">
                <a16:creationId xmlns:a16="http://schemas.microsoft.com/office/drawing/2014/main" id="{13ED3FF9-041A-6390-5FFD-D788BF0A81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Shape 3">
            <a:extLst>
              <a:ext uri="{FF2B5EF4-FFF2-40B4-BE49-F238E27FC236}">
                <a16:creationId xmlns:a16="http://schemas.microsoft.com/office/drawing/2014/main" id="{897E6DCA-EC63-E98F-3248-20FBA64DA3E5}"/>
              </a:ext>
            </a:extLst>
          </p:cNvPr>
          <p:cNvSpPr/>
          <p:nvPr/>
        </p:nvSpPr>
        <p:spPr>
          <a:xfrm>
            <a:off x="0" y="4619624"/>
            <a:ext cx="9144000" cy="523875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-1097280" y="-914400"/>
            <a:ext cx="3657600" cy="3657600"/>
          </a:xfrm>
          <a:prstGeom prst="ellipse">
            <a:avLst/>
          </a:prstGeom>
          <a:solidFill>
            <a:srgbClr val="7030A0">
              <a:alpha val="2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17920" y="-457200"/>
            <a:ext cx="1463040" cy="1463040"/>
          </a:xfrm>
          <a:prstGeom prst="ellipse">
            <a:avLst/>
          </a:prstGeom>
          <a:solidFill>
            <a:srgbClr val="7030A0">
              <a:alpha val="22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325880"/>
            <a:ext cx="109728" cy="2286000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633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AI Agent Supported</a:t>
            </a:r>
            <a:endParaRPr lang="en-US" sz="4400" dirty="0">
              <a:latin typeface="Abadi" panose="020B06040201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308860"/>
            <a:ext cx="633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Software Development</a:t>
            </a:r>
            <a:endParaRPr lang="en-US" sz="4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5628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adi" panose="020B06040201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619624"/>
            <a:ext cx="8229600" cy="51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Patrik Zsolt Hajdú</a:t>
            </a:r>
            <a:r>
              <a:rPr lang="hu-HU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hu-HU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BME AUT</a:t>
            </a:r>
            <a:r>
              <a:rPr lang="hu-HU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hu-HU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hu-HU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6   </a:t>
            </a:r>
            <a:r>
              <a:rPr lang="en-US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hu-HU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300" dirty="0">
                <a:solidFill>
                  <a:schemeClr val="bg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Tibor Tóth</a:t>
            </a:r>
            <a:endParaRPr lang="en-US" sz="13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9520" y="2743200"/>
            <a:ext cx="2743200" cy="2743200"/>
          </a:xfrm>
          <a:prstGeom prst="ellipse">
            <a:avLst/>
          </a:prstGeom>
          <a:solidFill>
            <a:srgbClr val="7030A0">
              <a:alpha val="1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">
            <a:extLst>
              <a:ext uri="{FF2B5EF4-FFF2-40B4-BE49-F238E27FC236}">
                <a16:creationId xmlns:a16="http://schemas.microsoft.com/office/drawing/2014/main" id="{D3FBBBD3-2A9D-93B1-CD74-AF1CD2EC9050}"/>
              </a:ext>
            </a:extLst>
          </p:cNvPr>
          <p:cNvSpPr/>
          <p:nvPr/>
        </p:nvSpPr>
        <p:spPr>
          <a:xfrm>
            <a:off x="7589520" y="2743200"/>
            <a:ext cx="2743200" cy="2743200"/>
          </a:xfrm>
          <a:prstGeom prst="ellipse">
            <a:avLst/>
          </a:prstGeom>
          <a:solidFill>
            <a:srgbClr val="7030A0">
              <a:alpha val="1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82FF3D12-7BD0-AF32-37AA-8E5DF1381971}"/>
              </a:ext>
            </a:extLst>
          </p:cNvPr>
          <p:cNvSpPr/>
          <p:nvPr/>
        </p:nvSpPr>
        <p:spPr>
          <a:xfrm>
            <a:off x="-1097280" y="-914400"/>
            <a:ext cx="3657600" cy="3657600"/>
          </a:xfrm>
          <a:prstGeom prst="ellipse">
            <a:avLst/>
          </a:prstGeom>
          <a:solidFill>
            <a:srgbClr val="7030A0">
              <a:alpha val="2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4" y="1606342"/>
            <a:ext cx="3587541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 dirty="0">
              <a:latin typeface="Abadi" panose="020B06040201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9929" y="1607161"/>
            <a:ext cx="91440" cy="1042416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0124" y="1607161"/>
            <a:ext cx="32675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The Problem</a:t>
            </a:r>
            <a:r>
              <a:rPr lang="hu-HU" sz="14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		 1/4</a:t>
            </a:r>
            <a:endParaRPr lang="en-US" sz="1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0124" y="1961866"/>
            <a:ext cx="3267500" cy="595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One of my family members works at an auto repair shop and uses </a:t>
            </a:r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Google</a:t>
            </a:r>
            <a:r>
              <a:rPr lang="en-US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Sheets, </a:t>
            </a:r>
            <a:r>
              <a:rPr lang="hu-HU" sz="1200" dirty="0" err="1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which</a:t>
            </a:r>
            <a:r>
              <a:rPr lang="hu-HU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is</a:t>
            </a:r>
            <a:r>
              <a:rPr lang="en-US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difficult to maintain and is</a:t>
            </a:r>
            <a:r>
              <a:rPr lang="hu-HU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no</a:t>
            </a:r>
            <a:r>
              <a:rPr lang="en-US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t scalable.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E6CF8906-683F-3C11-21E0-2E7AC2F77001}"/>
              </a:ext>
            </a:extLst>
          </p:cNvPr>
          <p:cNvSpPr/>
          <p:nvPr/>
        </p:nvSpPr>
        <p:spPr>
          <a:xfrm>
            <a:off x="640085" y="3113920"/>
            <a:ext cx="3587541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 dirty="0">
              <a:latin typeface="Abadi" panose="020B0604020104020204" pitchFamily="34" charset="0"/>
            </a:endParaRP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64E819B7-D64E-86EC-01A7-5146C7DFFD3A}"/>
              </a:ext>
            </a:extLst>
          </p:cNvPr>
          <p:cNvSpPr/>
          <p:nvPr/>
        </p:nvSpPr>
        <p:spPr>
          <a:xfrm>
            <a:off x="640085" y="3113920"/>
            <a:ext cx="91440" cy="1042416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20AE9DC9-4833-E0D6-92F8-4982CBBD60CC}"/>
              </a:ext>
            </a:extLst>
          </p:cNvPr>
          <p:cNvSpPr/>
          <p:nvPr/>
        </p:nvSpPr>
        <p:spPr>
          <a:xfrm>
            <a:off x="960125" y="3114739"/>
            <a:ext cx="32675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hu-HU" sz="1400" b="1" dirty="0" err="1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hu-HU" sz="14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	  	 3/4</a:t>
            </a:r>
            <a:endParaRPr lang="en-US" sz="1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5CD72966-12C2-53C6-AF68-5936D6ADB9A1}"/>
              </a:ext>
            </a:extLst>
          </p:cNvPr>
          <p:cNvSpPr/>
          <p:nvPr/>
        </p:nvSpPr>
        <p:spPr>
          <a:xfrm>
            <a:off x="960125" y="3469444"/>
            <a:ext cx="3267500" cy="53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Abadi" panose="020B0604020104020204" pitchFamily="34" charset="0"/>
              </a:rPr>
              <a:t>Move from manual "copy-paste" coding to controlled AI workflows.</a:t>
            </a: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76A80AFF-8965-C785-C021-411B42AD7879}"/>
              </a:ext>
            </a:extLst>
          </p:cNvPr>
          <p:cNvSpPr/>
          <p:nvPr/>
        </p:nvSpPr>
        <p:spPr>
          <a:xfrm>
            <a:off x="4754884" y="1606342"/>
            <a:ext cx="3587541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 dirty="0">
              <a:latin typeface="Abadi" panose="020B0604020104020204" pitchFamily="34" charset="0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0A21F9F7-DA47-A600-1ABE-6254CF83FF53}"/>
              </a:ext>
            </a:extLst>
          </p:cNvPr>
          <p:cNvSpPr/>
          <p:nvPr/>
        </p:nvSpPr>
        <p:spPr>
          <a:xfrm>
            <a:off x="4754884" y="1606342"/>
            <a:ext cx="91440" cy="1042416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0569A963-3FF3-DB94-7869-8A5E216043FD}"/>
              </a:ext>
            </a:extLst>
          </p:cNvPr>
          <p:cNvSpPr/>
          <p:nvPr/>
        </p:nvSpPr>
        <p:spPr>
          <a:xfrm>
            <a:off x="5074924" y="1607161"/>
            <a:ext cx="32675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hu-HU" sz="14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hu-HU" sz="1400" b="1" dirty="0" err="1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hu-HU" sz="14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			 2/4</a:t>
            </a:r>
            <a:endParaRPr lang="en-US" sz="1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89024DD7-4A1D-0758-A2F9-CA1B3C503E53}"/>
              </a:ext>
            </a:extLst>
          </p:cNvPr>
          <p:cNvSpPr/>
          <p:nvPr/>
        </p:nvSpPr>
        <p:spPr>
          <a:xfrm>
            <a:off x="5074924" y="1961866"/>
            <a:ext cx="3267500" cy="458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Abadi" panose="020B0604020104020204" pitchFamily="34" charset="0"/>
              </a:rPr>
              <a:t>Build a real, production-ready scheduling tool (ARSM).</a:t>
            </a: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0BB66288-4058-96CE-662C-C03D49EF24BF}"/>
              </a:ext>
            </a:extLst>
          </p:cNvPr>
          <p:cNvSpPr/>
          <p:nvPr/>
        </p:nvSpPr>
        <p:spPr>
          <a:xfrm>
            <a:off x="4754884" y="3114013"/>
            <a:ext cx="3587541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 dirty="0">
              <a:latin typeface="Abadi" panose="020B0604020104020204" pitchFamily="34" charset="0"/>
            </a:endParaRPr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20568BF3-2AEA-0533-DFBF-389DE12B3079}"/>
              </a:ext>
            </a:extLst>
          </p:cNvPr>
          <p:cNvSpPr/>
          <p:nvPr/>
        </p:nvSpPr>
        <p:spPr>
          <a:xfrm>
            <a:off x="4754884" y="3114013"/>
            <a:ext cx="91440" cy="1042416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1659435C-87B1-0358-26FB-01C863EBD43A}"/>
              </a:ext>
            </a:extLst>
          </p:cNvPr>
          <p:cNvSpPr/>
          <p:nvPr/>
        </p:nvSpPr>
        <p:spPr>
          <a:xfrm>
            <a:off x="5074924" y="3114832"/>
            <a:ext cx="32675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00" b="1" dirty="0" err="1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Why</a:t>
            </a:r>
            <a:r>
              <a:rPr lang="hu-HU" sz="14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AI?	                                  4/4</a:t>
            </a:r>
            <a:endParaRPr lang="en-US" sz="14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AD36BB9B-2F85-5832-9069-36560AD9C214}"/>
              </a:ext>
            </a:extLst>
          </p:cNvPr>
          <p:cNvSpPr/>
          <p:nvPr/>
        </p:nvSpPr>
        <p:spPr>
          <a:xfrm>
            <a:off x="5074924" y="3469537"/>
            <a:ext cx="3267500" cy="53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Abadi" panose="020B0604020104020204" pitchFamily="34" charset="0"/>
              </a:rPr>
              <a:t>Testing the limits of deterministic code generation for real business logic.</a:t>
            </a:r>
          </a:p>
        </p:txBody>
      </p:sp>
      <p:cxnSp>
        <p:nvCxnSpPr>
          <p:cNvPr id="39" name="Egyenes összekötő 38">
            <a:extLst>
              <a:ext uri="{FF2B5EF4-FFF2-40B4-BE49-F238E27FC236}">
                <a16:creationId xmlns:a16="http://schemas.microsoft.com/office/drawing/2014/main" id="{9073B968-2FF4-7D76-65AD-8D4D09604126}"/>
              </a:ext>
            </a:extLst>
          </p:cNvPr>
          <p:cNvCxnSpPr>
            <a:stCxn id="3" idx="3"/>
            <a:endCxn id="31" idx="1"/>
          </p:cNvCxnSpPr>
          <p:nvPr/>
        </p:nvCxnSpPr>
        <p:spPr>
          <a:xfrm>
            <a:off x="4227625" y="2127550"/>
            <a:ext cx="52725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gyenes összekötő 45">
            <a:extLst>
              <a:ext uri="{FF2B5EF4-FFF2-40B4-BE49-F238E27FC236}">
                <a16:creationId xmlns:a16="http://schemas.microsoft.com/office/drawing/2014/main" id="{584B280B-D8A0-F122-008A-7FB25DBE8F6E}"/>
              </a:ext>
            </a:extLst>
          </p:cNvPr>
          <p:cNvCxnSpPr>
            <a:cxnSpLocks/>
            <a:stCxn id="26" idx="3"/>
            <a:endCxn id="35" idx="1"/>
          </p:cNvCxnSpPr>
          <p:nvPr/>
        </p:nvCxnSpPr>
        <p:spPr>
          <a:xfrm>
            <a:off x="4227626" y="3635128"/>
            <a:ext cx="527258" cy="9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Összekötő: szögletes 50">
            <a:extLst>
              <a:ext uri="{FF2B5EF4-FFF2-40B4-BE49-F238E27FC236}">
                <a16:creationId xmlns:a16="http://schemas.microsoft.com/office/drawing/2014/main" id="{62E8883E-C14E-2353-D146-F1DC5018AC05}"/>
              </a:ext>
            </a:extLst>
          </p:cNvPr>
          <p:cNvCxnSpPr>
            <a:stCxn id="26" idx="0"/>
            <a:endCxn id="30" idx="2"/>
          </p:cNvCxnSpPr>
          <p:nvPr/>
        </p:nvCxnSpPr>
        <p:spPr>
          <a:xfrm rot="5400000" flipH="1" flipV="1">
            <a:off x="4258674" y="823940"/>
            <a:ext cx="465162" cy="4114799"/>
          </a:xfrm>
          <a:prstGeom prst="bentConnector3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0">
            <a:extLst>
              <a:ext uri="{FF2B5EF4-FFF2-40B4-BE49-F238E27FC236}">
                <a16:creationId xmlns:a16="http://schemas.microsoft.com/office/drawing/2014/main" id="{C4598E18-DC28-B649-27FB-6767877DD27D}"/>
              </a:ext>
            </a:extLst>
          </p:cNvPr>
          <p:cNvSpPr/>
          <p:nvPr/>
        </p:nvSpPr>
        <p:spPr>
          <a:xfrm>
            <a:off x="329184" y="589116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Motivation &amp; Topic Choice</a:t>
            </a:r>
            <a:endParaRPr lang="en-US" sz="32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6A45B90B-50D2-0551-464D-C032C10973B1}"/>
              </a:ext>
            </a:extLst>
          </p:cNvPr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D4ED8">
              <a:alpha val="16000"/>
            </a:srgbClr>
          </a:solidFill>
          <a:ln w="12700">
            <a:solidFill>
              <a:srgbClr val="1D4ED8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D809CFA1-B84C-D957-2F86-C44A4F800310}"/>
              </a:ext>
            </a:extLst>
          </p:cNvPr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329184" y="589116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AI Prompting in Practice</a:t>
            </a:r>
            <a:endParaRPr lang="en-US" sz="3200" dirty="0">
              <a:latin typeface="Abadi" panose="020B06040201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9184" y="1673352"/>
            <a:ext cx="2011680" cy="2424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929384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0624" y="25420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300" dirty="0">
              <a:latin typeface="Abadi" panose="020B0604020104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48056" y="3234974"/>
            <a:ext cx="1773936" cy="37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Good for theory, bad for cod</a:t>
            </a:r>
            <a:r>
              <a:rPr lang="hu-HU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ing </a:t>
            </a:r>
            <a:r>
              <a:rPr lang="en-US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causes "hallucinations".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487168" y="1673352"/>
            <a:ext cx="2011680" cy="24247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929384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608" y="25420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300" dirty="0">
              <a:latin typeface="Abadi" panose="020B0604020104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606040" y="3234974"/>
            <a:ext cx="1773936" cy="37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Better </a:t>
            </a:r>
            <a:r>
              <a:rPr lang="hu-HU" sz="1100" dirty="0" err="1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hu-HU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100" dirty="0" err="1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coding</a:t>
            </a:r>
            <a:r>
              <a:rPr lang="en-US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, but fills up the </a:t>
            </a:r>
            <a:r>
              <a:rPr lang="hu-HU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context</a:t>
            </a:r>
            <a:r>
              <a:rPr lang="en-US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window fast.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645152" y="1673352"/>
            <a:ext cx="2011680" cy="2424752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645152" y="1673352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1929384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36592" y="25420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300" dirty="0">
              <a:latin typeface="Abadi" panose="020B0604020104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764024" y="3239000"/>
            <a:ext cx="1773936" cy="378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Iterative dialogue, step-by-step reasoning.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736592" y="36719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803136" y="1673352"/>
            <a:ext cx="2011680" cy="2424752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929384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94576" y="25420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>
              <a:latin typeface="Abadi" panose="020B0604020104020204" pitchFamily="34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6922008" y="3238998"/>
            <a:ext cx="1773936" cy="37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Engineering decisions stayed in my hands, not the AI's.</a:t>
            </a:r>
            <a:endParaRPr lang="en-US" sz="1100" dirty="0">
              <a:latin typeface="Abadi" panose="020B0604020104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809DB491-83E5-A11D-9E21-2182248FDE08}"/>
              </a:ext>
            </a:extLst>
          </p:cNvPr>
          <p:cNvSpPr/>
          <p:nvPr/>
        </p:nvSpPr>
        <p:spPr>
          <a:xfrm>
            <a:off x="-1097280" y="-914400"/>
            <a:ext cx="3657600" cy="3657600"/>
          </a:xfrm>
          <a:prstGeom prst="ellipse">
            <a:avLst/>
          </a:prstGeom>
          <a:solidFill>
            <a:srgbClr val="7030A0">
              <a:alpha val="2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060CBD1-B54A-E04F-59BD-537E3059B124}"/>
              </a:ext>
            </a:extLst>
          </p:cNvPr>
          <p:cNvSpPr/>
          <p:nvPr/>
        </p:nvSpPr>
        <p:spPr>
          <a:xfrm>
            <a:off x="7589520" y="2743200"/>
            <a:ext cx="2743200" cy="2743200"/>
          </a:xfrm>
          <a:prstGeom prst="ellipse">
            <a:avLst/>
          </a:prstGeom>
          <a:solidFill>
            <a:srgbClr val="7030A0">
              <a:alpha val="1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E7044AD9-BCD2-A718-6893-287D86DA20AC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358105" y="2698191"/>
            <a:ext cx="777525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/>
          <p:cNvSpPr/>
          <p:nvPr/>
        </p:nvSpPr>
        <p:spPr>
          <a:xfrm>
            <a:off x="457200" y="476988"/>
            <a:ext cx="44607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>
              <a:latin typeface="Abadi" panose="020B06040201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75764" y="2160192"/>
            <a:ext cx="1782341" cy="10759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6279" y="2258676"/>
            <a:ext cx="14975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Reactive (Chat)</a:t>
            </a:r>
            <a:endParaRPr lang="en-US" sz="1300" dirty="0">
              <a:latin typeface="Abadi" panose="020B06040201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6280" y="2621031"/>
            <a:ext cx="14975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Just answers questions on demand.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35630" y="2160192"/>
            <a:ext cx="1782341" cy="10759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84857" y="2224200"/>
            <a:ext cx="14959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Proactive (Agents)</a:t>
            </a:r>
            <a:endParaRPr lang="en-US" sz="1300" dirty="0">
              <a:latin typeface="Abadi" panose="020B06040201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84857" y="2621031"/>
            <a:ext cx="1495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Execute autonomously: read files, run tests, validate builds.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95666" y="751308"/>
            <a:ext cx="2716814" cy="1170432"/>
          </a:xfrm>
          <a:prstGeom prst="rect">
            <a:avLst/>
          </a:prstGeom>
          <a:solidFill>
            <a:schemeClr val="bg1"/>
          </a:solidFill>
          <a:ln w="19050">
            <a:noFill/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95666" y="751308"/>
            <a:ext cx="91440" cy="1170432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24266" y="842748"/>
            <a:ext cx="2488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Patrik</a:t>
            </a:r>
            <a:endParaRPr lang="en-US" sz="1500" dirty="0">
              <a:latin typeface="Abadi" panose="020B0604020104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24266" y="1208508"/>
            <a:ext cx="248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24266" y="1501116"/>
            <a:ext cx="2488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Architecture &amp; SOLID rules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695666" y="2122908"/>
            <a:ext cx="2716814" cy="1170432"/>
          </a:xfrm>
          <a:prstGeom prst="rect">
            <a:avLst/>
          </a:prstGeom>
          <a:solidFill>
            <a:schemeClr val="bg1"/>
          </a:solidFill>
          <a:ln w="19050">
            <a:noFill/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95666" y="2122908"/>
            <a:ext cx="91440" cy="1170432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24266" y="2214348"/>
            <a:ext cx="2488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Mark &amp; Gergely</a:t>
            </a:r>
            <a:endParaRPr lang="en-US" sz="1500" dirty="0">
              <a:latin typeface="Abadi" panose="020B0604020104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24266" y="2580108"/>
            <a:ext cx="248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Backend / Frontend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24266" y="2872716"/>
            <a:ext cx="2488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.NET 10 REST API · React 19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95666" y="3494508"/>
            <a:ext cx="2716814" cy="1170432"/>
          </a:xfrm>
          <a:prstGeom prst="rect">
            <a:avLst/>
          </a:prstGeom>
          <a:solidFill>
            <a:schemeClr val="bg1"/>
          </a:solidFill>
          <a:ln w="19050">
            <a:noFill/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95666" y="3494508"/>
            <a:ext cx="91440" cy="1170432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24266" y="3585948"/>
            <a:ext cx="2488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Zsombor</a:t>
            </a:r>
            <a:endParaRPr lang="en-US" sz="1500" dirty="0">
              <a:latin typeface="Abadi" panose="020B0604020104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24266" y="3951708"/>
            <a:ext cx="2488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24266" y="4244316"/>
            <a:ext cx="2488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Security &amp; build validation</a:t>
            </a:r>
            <a:endParaRPr lang="en-US" sz="1100" dirty="0">
              <a:latin typeface="Abadi" panose="020B0604020104020204" pitchFamily="34" charset="0"/>
            </a:endParaRPr>
          </a:p>
        </p:txBody>
      </p:sp>
      <p:cxnSp>
        <p:nvCxnSpPr>
          <p:cNvPr id="29" name="Egyenes összekötő 28">
            <a:extLst>
              <a:ext uri="{FF2B5EF4-FFF2-40B4-BE49-F238E27FC236}">
                <a16:creationId xmlns:a16="http://schemas.microsoft.com/office/drawing/2014/main" id="{AE9EF0C4-ABDD-BCD3-892D-33F6098A87B9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4917971" y="2698191"/>
            <a:ext cx="777695" cy="993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Összekötő: szögletes 30">
            <a:extLst>
              <a:ext uri="{FF2B5EF4-FFF2-40B4-BE49-F238E27FC236}">
                <a16:creationId xmlns:a16="http://schemas.microsoft.com/office/drawing/2014/main" id="{112D4A5A-906E-1419-842D-1E2C110179E4}"/>
              </a:ext>
            </a:extLst>
          </p:cNvPr>
          <p:cNvCxnSpPr>
            <a:stCxn id="11" idx="1"/>
            <a:endCxn id="22" idx="1"/>
          </p:cNvCxnSpPr>
          <p:nvPr/>
        </p:nvCxnSpPr>
        <p:spPr>
          <a:xfrm rot="10800000" flipV="1">
            <a:off x="5695666" y="1336524"/>
            <a:ext cx="12700" cy="2743200"/>
          </a:xfrm>
          <a:prstGeom prst="bentConnector3">
            <a:avLst>
              <a:gd name="adj1" fmla="val 3411945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0">
            <a:extLst>
              <a:ext uri="{FF2B5EF4-FFF2-40B4-BE49-F238E27FC236}">
                <a16:creationId xmlns:a16="http://schemas.microsoft.com/office/drawing/2014/main" id="{AE9FE0CA-62A9-9432-CAAD-89F11FC8076B}"/>
              </a:ext>
            </a:extLst>
          </p:cNvPr>
          <p:cNvSpPr/>
          <p:nvPr/>
        </p:nvSpPr>
        <p:spPr>
          <a:xfrm>
            <a:off x="256032" y="751308"/>
            <a:ext cx="4661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From Chat to AI Agents</a:t>
            </a:r>
            <a:endParaRPr lang="en-US" sz="3200" dirty="0">
              <a:latin typeface="Abadi" panose="020B0604020104020204" pitchFamily="34" charset="0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5E832BE6-5B4E-9DE5-D56B-92A3A4817530}"/>
              </a:ext>
            </a:extLst>
          </p:cNvPr>
          <p:cNvSpPr/>
          <p:nvPr/>
        </p:nvSpPr>
        <p:spPr>
          <a:xfrm>
            <a:off x="3079117" y="2156690"/>
            <a:ext cx="91440" cy="1085850"/>
          </a:xfrm>
          <a:prstGeom prst="rect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16C40B8D-F186-5488-ECA4-A87FB737BBE9}"/>
              </a:ext>
            </a:extLst>
          </p:cNvPr>
          <p:cNvSpPr/>
          <p:nvPr/>
        </p:nvSpPr>
        <p:spPr>
          <a:xfrm>
            <a:off x="529127" y="2160799"/>
            <a:ext cx="91440" cy="108585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>
            <a:extLst>
              <a:ext uri="{FF2B5EF4-FFF2-40B4-BE49-F238E27FC236}">
                <a16:creationId xmlns:a16="http://schemas.microsoft.com/office/drawing/2014/main" id="{4CBA432B-FDFD-14C8-90B6-2CC432A4E910}"/>
              </a:ext>
            </a:extLst>
          </p:cNvPr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D4ED8">
              <a:alpha val="16000"/>
            </a:srgbClr>
          </a:solidFill>
          <a:ln w="12700">
            <a:solidFill>
              <a:srgbClr val="1D4ED8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C703FAF-BEB4-6989-B7FB-E770FDF6AF01}"/>
              </a:ext>
            </a:extLst>
          </p:cNvPr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200" dirty="0">
              <a:latin typeface="Abadi" panose="020B06040201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9184" y="1485398"/>
            <a:ext cx="8485632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9184" y="1485397"/>
            <a:ext cx="8485632" cy="4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Strict Harness:  Agents bound by .</a:t>
            </a:r>
            <a:r>
              <a:rPr lang="en-US" sz="1200" b="1" dirty="0" err="1">
                <a:solidFill>
                  <a:srgbClr val="92400E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200" b="1" dirty="0">
                <a:solidFill>
                  <a:srgbClr val="92400E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hu-HU" sz="1200" b="1" dirty="0" err="1">
                <a:solidFill>
                  <a:srgbClr val="92400E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agents</a:t>
            </a:r>
            <a:r>
              <a:rPr lang="hu-HU" sz="1200" b="1" dirty="0">
                <a:solidFill>
                  <a:srgbClr val="92400E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/…</a:t>
            </a:r>
            <a:r>
              <a:rPr lang="en-US" sz="1200" b="1" dirty="0">
                <a:solidFill>
                  <a:srgbClr val="92400E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b="1" dirty="0">
                <a:solidFill>
                  <a:srgbClr val="92400E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200" b="1" dirty="0">
                <a:solidFill>
                  <a:srgbClr val="92400E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.claude/agents</a:t>
            </a:r>
            <a:r>
              <a:rPr lang="hu-HU" sz="1200" b="1" dirty="0">
                <a:solidFill>
                  <a:srgbClr val="92400E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/…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9184" y="2148044"/>
            <a:ext cx="1993392" cy="240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14984" y="2422364"/>
            <a:ext cx="640080" cy="640080"/>
          </a:xfrm>
          <a:prstGeom prst="ellipse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4984" y="244065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>
              <a:latin typeface="Abadi" panose="020B06040201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0624" y="317217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Analyze &amp; Plan</a:t>
            </a:r>
            <a:endParaRPr lang="en-US" sz="13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" y="3702524"/>
            <a:ext cx="1773936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Orchestrator breaks tasks into subtasks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510028" y="2148044"/>
            <a:ext cx="1993392" cy="240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95828" y="2422364"/>
            <a:ext cx="640080" cy="640080"/>
          </a:xfrm>
          <a:prstGeom prst="ellipse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95828" y="244065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>
              <a:latin typeface="Abadi" panose="020B0604020104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01468" y="317217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19756" y="3702524"/>
            <a:ext cx="1773936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Specialists implement code within their sandbox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49724" y="2148044"/>
            <a:ext cx="1993392" cy="240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335524" y="2422364"/>
            <a:ext cx="640080" cy="640080"/>
          </a:xfrm>
          <a:prstGeom prst="ellipse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35524" y="244065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>
              <a:latin typeface="Abadi" panose="020B0604020104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41164" y="3172172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59452" y="3702524"/>
            <a:ext cx="1773936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Auto-run dotnet build &amp; tsc for instant feedback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21424" y="2148599"/>
            <a:ext cx="1993392" cy="240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07224" y="2427608"/>
            <a:ext cx="640080" cy="640080"/>
          </a:xfrm>
          <a:prstGeom prst="ellipse">
            <a:avLst/>
          </a:prstGeom>
          <a:solidFill>
            <a:srgbClr val="7030A0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07224" y="244589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>
              <a:latin typeface="Abadi" panose="020B0604020104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12864" y="3177416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30A0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300" dirty="0">
              <a:solidFill>
                <a:srgbClr val="7030A0"/>
              </a:solidFill>
              <a:latin typeface="Abadi" panose="020B0604020104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31152" y="3707768"/>
            <a:ext cx="1773936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docs-sync updates README</a:t>
            </a:r>
            <a:r>
              <a:rPr lang="hu-HU" sz="105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.md, CLAUDE.md and  instruction.md </a:t>
            </a:r>
            <a:r>
              <a:rPr lang="en-US" sz="105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to prevent doc drift</a:t>
            </a:r>
            <a:endParaRPr lang="en-US" sz="1050" dirty="0">
              <a:latin typeface="Abadi" panose="020B0604020104020204" pitchFamily="34" charset="0"/>
            </a:endParaRPr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6B76A505-B8CE-6971-AACC-B0F6039100B7}"/>
              </a:ext>
            </a:extLst>
          </p:cNvPr>
          <p:cNvSpPr/>
          <p:nvPr/>
        </p:nvSpPr>
        <p:spPr>
          <a:xfrm>
            <a:off x="329184" y="594360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The Multi-Agent Workflow</a:t>
            </a:r>
            <a:endParaRPr lang="en-US" sz="3200" dirty="0">
              <a:latin typeface="Abadi" panose="020B0604020104020204" pitchFamily="34" charset="0"/>
            </a:endParaRPr>
          </a:p>
        </p:txBody>
      </p: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369B2A98-AE23-5FB1-72E0-710BEE124135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2322576" y="3348592"/>
            <a:ext cx="187452" cy="0"/>
          </a:xfrm>
          <a:prstGeom prst="line">
            <a:avLst/>
          </a:prstGeom>
          <a:ln w="28575">
            <a:solidFill>
              <a:srgbClr val="7C3A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31">
            <a:extLst>
              <a:ext uri="{FF2B5EF4-FFF2-40B4-BE49-F238E27FC236}">
                <a16:creationId xmlns:a16="http://schemas.microsoft.com/office/drawing/2014/main" id="{AA98C045-C0ED-4094-5ECE-3148C9315568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>
            <a:off x="6643116" y="3348592"/>
            <a:ext cx="178308" cy="555"/>
          </a:xfrm>
          <a:prstGeom prst="line">
            <a:avLst/>
          </a:prstGeom>
          <a:ln w="28575">
            <a:solidFill>
              <a:srgbClr val="7C3A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C510F4B3-3987-71D8-9142-2FC193DDAFC4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4503420" y="3348592"/>
            <a:ext cx="146304" cy="0"/>
          </a:xfrm>
          <a:prstGeom prst="line">
            <a:avLst/>
          </a:prstGeom>
          <a:ln w="28575">
            <a:solidFill>
              <a:srgbClr val="7C3A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58325882-3FAE-54C4-F3F3-7916AE3647AF}"/>
              </a:ext>
            </a:extLst>
          </p:cNvPr>
          <p:cNvSpPr/>
          <p:nvPr/>
        </p:nvSpPr>
        <p:spPr>
          <a:xfrm>
            <a:off x="-1097280" y="-914400"/>
            <a:ext cx="3657600" cy="3657600"/>
          </a:xfrm>
          <a:prstGeom prst="ellipse">
            <a:avLst/>
          </a:prstGeom>
          <a:solidFill>
            <a:srgbClr val="7030A0">
              <a:alpha val="2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29BA4FF-EC1A-E138-CEC2-AB425417474E}"/>
              </a:ext>
            </a:extLst>
          </p:cNvPr>
          <p:cNvSpPr/>
          <p:nvPr/>
        </p:nvSpPr>
        <p:spPr>
          <a:xfrm>
            <a:off x="7589520" y="2743200"/>
            <a:ext cx="2743200" cy="2743200"/>
          </a:xfrm>
          <a:prstGeom prst="ellipse">
            <a:avLst/>
          </a:prstGeom>
          <a:solidFill>
            <a:srgbClr val="7030A0">
              <a:alpha val="1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404115" y="1603248"/>
            <a:ext cx="3165224" cy="12115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97766" y="1603248"/>
            <a:ext cx="100584" cy="1211580"/>
          </a:xfrm>
          <a:prstGeom prst="rect">
            <a:avLst/>
          </a:prstGeom>
          <a:solidFill>
            <a:srgbClr val="38BDF8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140" y="195757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08788" y="1694688"/>
            <a:ext cx="200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208788" y="1987296"/>
            <a:ext cx="2004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.NET 10 Aspire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208788" y="2220468"/>
            <a:ext cx="21734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Docker container management </a:t>
            </a:r>
            <a:r>
              <a:rPr lang="hu-HU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service discovery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BD283CC2-B4B3-CC4D-2EDF-DB0453BBADD0}"/>
              </a:ext>
            </a:extLst>
          </p:cNvPr>
          <p:cNvSpPr/>
          <p:nvPr/>
        </p:nvSpPr>
        <p:spPr>
          <a:xfrm>
            <a:off x="1404116" y="3077718"/>
            <a:ext cx="3158742" cy="12115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92F81B7B-CA53-F8E2-43D8-1AF423D1285B}"/>
              </a:ext>
            </a:extLst>
          </p:cNvPr>
          <p:cNvSpPr/>
          <p:nvPr/>
        </p:nvSpPr>
        <p:spPr>
          <a:xfrm>
            <a:off x="2208788" y="3169158"/>
            <a:ext cx="200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41564F90-CD26-24CA-43F5-EE579AAD4E07}"/>
              </a:ext>
            </a:extLst>
          </p:cNvPr>
          <p:cNvSpPr/>
          <p:nvPr/>
        </p:nvSpPr>
        <p:spPr>
          <a:xfrm>
            <a:off x="2208788" y="3461766"/>
            <a:ext cx="2004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0B98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9D484FBF-D2F6-F803-C506-DF076D0324B3}"/>
              </a:ext>
            </a:extLst>
          </p:cNvPr>
          <p:cNvSpPr/>
          <p:nvPr/>
        </p:nvSpPr>
        <p:spPr>
          <a:xfrm>
            <a:off x="2208788" y="3694938"/>
            <a:ext cx="22487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Persistent volume · EF Core migrations</a:t>
            </a:r>
            <a:endParaRPr lang="en-US" sz="1200" dirty="0">
              <a:latin typeface="Abadi" panose="020B0604020104020204" pitchFamily="34" charset="0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140" y="3383280"/>
            <a:ext cx="502920" cy="5029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404116" y="3077718"/>
            <a:ext cx="100584" cy="1211580"/>
          </a:xfrm>
          <a:prstGeom prst="rect">
            <a:avLst/>
          </a:prstGeom>
          <a:solidFill>
            <a:srgbClr val="10B981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0690AAE5-6F31-D534-3301-E0925D99065D}"/>
              </a:ext>
            </a:extLst>
          </p:cNvPr>
          <p:cNvSpPr/>
          <p:nvPr/>
        </p:nvSpPr>
        <p:spPr>
          <a:xfrm>
            <a:off x="329184" y="589116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ARSM Architecture</a:t>
            </a:r>
            <a:endParaRPr lang="en-US" sz="3200" dirty="0">
              <a:latin typeface="Abadi" panose="020B0604020104020204" pitchFamily="34" charset="0"/>
            </a:endParaRPr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97646CB8-3CFD-F66E-D1DE-C15DE7608E94}"/>
              </a:ext>
            </a:extLst>
          </p:cNvPr>
          <p:cNvSpPr/>
          <p:nvPr/>
        </p:nvSpPr>
        <p:spPr>
          <a:xfrm>
            <a:off x="4845435" y="1603248"/>
            <a:ext cx="3170934" cy="12115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DE277CA3-8889-E320-E72E-C19574F6EDF5}"/>
              </a:ext>
            </a:extLst>
          </p:cNvPr>
          <p:cNvSpPr/>
          <p:nvPr/>
        </p:nvSpPr>
        <p:spPr>
          <a:xfrm>
            <a:off x="5650107" y="1694688"/>
            <a:ext cx="200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22E9C05E-7037-D582-A1D7-0996AA73A385}"/>
              </a:ext>
            </a:extLst>
          </p:cNvPr>
          <p:cNvSpPr/>
          <p:nvPr/>
        </p:nvSpPr>
        <p:spPr>
          <a:xfrm>
            <a:off x="5650107" y="1987296"/>
            <a:ext cx="2004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D4ED8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.NET 10 REST API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D7AE7A8B-376B-5E29-B73C-58AD38DB6E5D}"/>
              </a:ext>
            </a:extLst>
          </p:cNvPr>
          <p:cNvSpPr/>
          <p:nvPr/>
        </p:nvSpPr>
        <p:spPr>
          <a:xfrm>
            <a:off x="5650107" y="2220468"/>
            <a:ext cx="21910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Entity Framework Core ·TPH Pattern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44" name="Shape 1">
            <a:extLst>
              <a:ext uri="{FF2B5EF4-FFF2-40B4-BE49-F238E27FC236}">
                <a16:creationId xmlns:a16="http://schemas.microsoft.com/office/drawing/2014/main" id="{B5ECE337-2BB2-FE7B-716A-026E8F17793A}"/>
              </a:ext>
            </a:extLst>
          </p:cNvPr>
          <p:cNvSpPr/>
          <p:nvPr/>
        </p:nvSpPr>
        <p:spPr>
          <a:xfrm>
            <a:off x="4845435" y="3077718"/>
            <a:ext cx="3170934" cy="12115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E69F0A2C-2010-9CA9-2A0B-FC2CFB6E0A00}"/>
              </a:ext>
            </a:extLst>
          </p:cNvPr>
          <p:cNvSpPr/>
          <p:nvPr/>
        </p:nvSpPr>
        <p:spPr>
          <a:xfrm>
            <a:off x="5650107" y="3169158"/>
            <a:ext cx="200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77C6D9FE-2A70-C079-5949-35A094A47712}"/>
              </a:ext>
            </a:extLst>
          </p:cNvPr>
          <p:cNvSpPr/>
          <p:nvPr/>
        </p:nvSpPr>
        <p:spPr>
          <a:xfrm>
            <a:off x="5650107" y="3461766"/>
            <a:ext cx="236626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7C3AED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React 19 · Vite · Tailwind CSS</a:t>
            </a:r>
            <a:r>
              <a:rPr lang="hu-HU" sz="1400" b="1" dirty="0">
                <a:solidFill>
                  <a:srgbClr val="7C3AED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b="1" dirty="0">
                <a:solidFill>
                  <a:srgbClr val="7C3AED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611FDFDC-C9B4-4C30-80A0-378BB1C67DC8}"/>
              </a:ext>
            </a:extLst>
          </p:cNvPr>
          <p:cNvSpPr/>
          <p:nvPr/>
        </p:nvSpPr>
        <p:spPr>
          <a:xfrm>
            <a:off x="5650107" y="3694938"/>
            <a:ext cx="21910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1200" dirty="0" err="1">
                <a:latin typeface="Abadi" panose="020B0604020104020204" pitchFamily="34" charset="0"/>
              </a:rPr>
              <a:t>Zustand</a:t>
            </a:r>
            <a:r>
              <a:rPr lang="hu-HU" sz="1200" dirty="0">
                <a:latin typeface="Abadi" panose="020B0604020104020204" pitchFamily="34" charset="0"/>
              </a:rPr>
              <a:t> </a:t>
            </a:r>
            <a:r>
              <a:rPr lang="hu-HU" sz="1200" dirty="0" err="1">
                <a:latin typeface="Abadi" panose="020B0604020104020204" pitchFamily="34" charset="0"/>
              </a:rPr>
              <a:t>state</a:t>
            </a:r>
            <a:r>
              <a:rPr lang="hu-HU" sz="1200" dirty="0">
                <a:latin typeface="Abadi" panose="020B0604020104020204" pitchFamily="34" charset="0"/>
              </a:rPr>
              <a:t> management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845308" y="1603248"/>
            <a:ext cx="100711" cy="1205394"/>
          </a:xfrm>
          <a:prstGeom prst="rect">
            <a:avLst/>
          </a:prstGeom>
          <a:solidFill>
            <a:srgbClr val="1D4ED8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6603" y="1957578"/>
            <a:ext cx="502920" cy="5029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843593" y="3077718"/>
            <a:ext cx="96076" cy="1205394"/>
          </a:xfrm>
          <a:prstGeom prst="rect">
            <a:avLst/>
          </a:prstGeom>
          <a:solidFill>
            <a:srgbClr val="7C3AED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1523" y="3378364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31" grpId="0" animBg="1"/>
      <p:bldP spid="34" grpId="0" animBg="1"/>
      <p:bldP spid="35" grpId="0" animBg="1"/>
      <p:bldP spid="36" grpId="0" animBg="1"/>
      <p:bldP spid="16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10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">
            <a:extLst>
              <a:ext uri="{FF2B5EF4-FFF2-40B4-BE49-F238E27FC236}">
                <a16:creationId xmlns:a16="http://schemas.microsoft.com/office/drawing/2014/main" id="{A7CF6455-20B5-44CC-D624-6638041B1CB4}"/>
              </a:ext>
            </a:extLst>
          </p:cNvPr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CA525E43-B561-112B-EE26-61031E0BF9AF}"/>
              </a:ext>
            </a:extLst>
          </p:cNvPr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D4ED8">
              <a:alpha val="16000"/>
            </a:srgbClr>
          </a:solidFill>
          <a:ln w="12700">
            <a:solidFill>
              <a:srgbClr val="1D4ED8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474088" y="1588008"/>
            <a:ext cx="3053462" cy="1214628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599620" y="1977300"/>
            <a:ext cx="454824" cy="454824"/>
          </a:xfrm>
          <a:prstGeom prst="ellipse">
            <a:avLst/>
          </a:prstGeom>
          <a:solidFill>
            <a:schemeClr val="bg1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848" y="2045400"/>
            <a:ext cx="344367" cy="3443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81731" y="1822958"/>
            <a:ext cx="2345819" cy="3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.NET Aspire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181732" y="2170176"/>
            <a:ext cx="2184528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Dynamic connection string injection </a:t>
            </a:r>
            <a:r>
              <a:rPr lang="hu-HU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o static config errors.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8A09DFF5-E9FF-2C51-E765-F750E2EA0A00}"/>
              </a:ext>
            </a:extLst>
          </p:cNvPr>
          <p:cNvSpPr/>
          <p:nvPr/>
        </p:nvSpPr>
        <p:spPr>
          <a:xfrm>
            <a:off x="329184" y="616077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Why This Stack?</a:t>
            </a:r>
            <a:endParaRPr lang="en-US" sz="3200" dirty="0">
              <a:latin typeface="Abadi" panose="020B0604020104020204" pitchFamily="34" charset="0"/>
            </a:endParaRPr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D0174265-2113-9600-DC1E-9B65C29C3178}"/>
              </a:ext>
            </a:extLst>
          </p:cNvPr>
          <p:cNvSpPr/>
          <p:nvPr/>
        </p:nvSpPr>
        <p:spPr>
          <a:xfrm>
            <a:off x="1474088" y="3066034"/>
            <a:ext cx="3053462" cy="1214628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1459E16A-1BCF-1E0F-C17F-14A4DD11CCC8}"/>
              </a:ext>
            </a:extLst>
          </p:cNvPr>
          <p:cNvSpPr/>
          <p:nvPr/>
        </p:nvSpPr>
        <p:spPr>
          <a:xfrm>
            <a:off x="2181731" y="3321558"/>
            <a:ext cx="2345819" cy="3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0B98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Table-Per-Hierarchy (TPH)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3849304F-FB7C-E157-FE7D-1ABC99D50F83}"/>
              </a:ext>
            </a:extLst>
          </p:cNvPr>
          <p:cNvSpPr/>
          <p:nvPr/>
        </p:nvSpPr>
        <p:spPr>
          <a:xfrm>
            <a:off x="2181732" y="3668776"/>
            <a:ext cx="2184528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Clean separation of Mechanics </a:t>
            </a:r>
            <a:r>
              <a:rPr lang="hu-HU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Customers in a single DB table.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596898" y="3353308"/>
            <a:ext cx="467595" cy="490728"/>
          </a:xfrm>
          <a:prstGeom prst="ellipse">
            <a:avLst/>
          </a:prstGeom>
          <a:solidFill>
            <a:schemeClr val="bg1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280" y="3440538"/>
            <a:ext cx="315759" cy="315759"/>
          </a:xfrm>
          <a:prstGeom prst="rect">
            <a:avLst/>
          </a:prstGeom>
        </p:spPr>
      </p:pic>
      <p:sp>
        <p:nvSpPr>
          <p:cNvPr id="34" name="Shape 1">
            <a:extLst>
              <a:ext uri="{FF2B5EF4-FFF2-40B4-BE49-F238E27FC236}">
                <a16:creationId xmlns:a16="http://schemas.microsoft.com/office/drawing/2014/main" id="{02214AEA-A8D4-3229-2056-F76C81B5648E}"/>
              </a:ext>
            </a:extLst>
          </p:cNvPr>
          <p:cNvSpPr/>
          <p:nvPr/>
        </p:nvSpPr>
        <p:spPr>
          <a:xfrm>
            <a:off x="4884166" y="1588008"/>
            <a:ext cx="3053462" cy="1214628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7EFBD5C0-08DF-560C-948B-2B66B2BBCA71}"/>
              </a:ext>
            </a:extLst>
          </p:cNvPr>
          <p:cNvSpPr/>
          <p:nvPr/>
        </p:nvSpPr>
        <p:spPr>
          <a:xfrm>
            <a:off x="5591809" y="1822958"/>
            <a:ext cx="2345819" cy="3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43F5E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4DEC42B1-EAF1-81EB-5E8B-09E2C42ABB95}"/>
              </a:ext>
            </a:extLst>
          </p:cNvPr>
          <p:cNvSpPr/>
          <p:nvPr/>
        </p:nvSpPr>
        <p:spPr>
          <a:xfrm>
            <a:off x="5591810" y="2170176"/>
            <a:ext cx="221869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HttpOnly</a:t>
            </a:r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/Secure cookies + DB-backed Denylist (XSS protection).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A9ABB398-1D9D-A636-3748-F5DE8DB24676}"/>
              </a:ext>
            </a:extLst>
          </p:cNvPr>
          <p:cNvSpPr/>
          <p:nvPr/>
        </p:nvSpPr>
        <p:spPr>
          <a:xfrm>
            <a:off x="4884166" y="3066034"/>
            <a:ext cx="3053462" cy="1214628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4C5D0795-C2C6-B027-043E-F2C55CE7C1DC}"/>
              </a:ext>
            </a:extLst>
          </p:cNvPr>
          <p:cNvSpPr/>
          <p:nvPr/>
        </p:nvSpPr>
        <p:spPr>
          <a:xfrm>
            <a:off x="5591809" y="3321558"/>
            <a:ext cx="2345819" cy="3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7C3AED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Tailwind + React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3CAB40B7-E516-7C21-4409-288FF28A870A}"/>
              </a:ext>
            </a:extLst>
          </p:cNvPr>
          <p:cNvSpPr/>
          <p:nvPr/>
        </p:nvSpPr>
        <p:spPr>
          <a:xfrm>
            <a:off x="5591810" y="3668776"/>
            <a:ext cx="2218690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Rapid, predictable styling enforced by dedicated UI/UX agents.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001402" y="3414420"/>
            <a:ext cx="473170" cy="490728"/>
          </a:xfrm>
          <a:prstGeom prst="ellipse">
            <a:avLst/>
          </a:prstGeom>
          <a:solidFill>
            <a:schemeClr val="bg1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028" y="3514436"/>
            <a:ext cx="332329" cy="30867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01169" y="1947672"/>
            <a:ext cx="468045" cy="490728"/>
          </a:xfrm>
          <a:prstGeom prst="ellipse">
            <a:avLst/>
          </a:prstGeom>
          <a:solidFill>
            <a:schemeClr val="bg1"/>
          </a:solidFill>
          <a:ln w="1905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553" y="2022538"/>
            <a:ext cx="295275" cy="295275"/>
          </a:xfrm>
          <a:prstGeom prst="rect">
            <a:avLst/>
          </a:prstGeom>
        </p:spPr>
      </p:pic>
      <p:sp>
        <p:nvSpPr>
          <p:cNvPr id="16" name="Shape 2">
            <a:extLst>
              <a:ext uri="{FF2B5EF4-FFF2-40B4-BE49-F238E27FC236}">
                <a16:creationId xmlns:a16="http://schemas.microsoft.com/office/drawing/2014/main" id="{3E8355E9-E846-2BDA-439F-876BE0863121}"/>
              </a:ext>
            </a:extLst>
          </p:cNvPr>
          <p:cNvSpPr/>
          <p:nvPr/>
        </p:nvSpPr>
        <p:spPr>
          <a:xfrm>
            <a:off x="4842236" y="3061461"/>
            <a:ext cx="99664" cy="1214628"/>
          </a:xfrm>
          <a:prstGeom prst="rect">
            <a:avLst/>
          </a:prstGeom>
          <a:solidFill>
            <a:srgbClr val="7C3AED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F2885569-1B3D-9E5F-BF4B-E26A3B2BBD78}"/>
              </a:ext>
            </a:extLst>
          </p:cNvPr>
          <p:cNvSpPr/>
          <p:nvPr/>
        </p:nvSpPr>
        <p:spPr>
          <a:xfrm>
            <a:off x="4842236" y="1585722"/>
            <a:ext cx="99664" cy="1214628"/>
          </a:xfrm>
          <a:prstGeom prst="rect">
            <a:avLst/>
          </a:prstGeom>
          <a:solidFill>
            <a:srgbClr val="F43F5E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D4464ABD-EFC6-4CEF-0A4B-D48936F5D7C3}"/>
              </a:ext>
            </a:extLst>
          </p:cNvPr>
          <p:cNvSpPr/>
          <p:nvPr/>
        </p:nvSpPr>
        <p:spPr>
          <a:xfrm>
            <a:off x="1432838" y="3066034"/>
            <a:ext cx="99664" cy="1214628"/>
          </a:xfrm>
          <a:prstGeom prst="rect">
            <a:avLst/>
          </a:prstGeom>
          <a:solidFill>
            <a:srgbClr val="10B981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7C9F462E-9B94-86F7-6A96-E4710B3E553C}"/>
              </a:ext>
            </a:extLst>
          </p:cNvPr>
          <p:cNvSpPr/>
          <p:nvPr/>
        </p:nvSpPr>
        <p:spPr>
          <a:xfrm>
            <a:off x="1440319" y="1585722"/>
            <a:ext cx="99664" cy="1214628"/>
          </a:xfrm>
          <a:prstGeom prst="rect">
            <a:avLst/>
          </a:prstGeom>
          <a:solidFill>
            <a:srgbClr val="38BDF8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26" grpId="0" animBg="1"/>
      <p:bldP spid="29" grpId="0" animBg="1"/>
      <p:bldP spid="30" grpId="0" animBg="1"/>
      <p:bldP spid="14" grpId="0" animBg="1"/>
      <p:bldP spid="34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19" grpId="0" animBg="1"/>
      <p:bldP spid="9" grpId="0" animBg="1"/>
      <p:bldP spid="16" grpId="0" animBg="1"/>
      <p:bldP spid="17" grpId="0" animBg="1"/>
      <p:bldP spid="18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>
            <a:extLst>
              <a:ext uri="{FF2B5EF4-FFF2-40B4-BE49-F238E27FC236}">
                <a16:creationId xmlns:a16="http://schemas.microsoft.com/office/drawing/2014/main" id="{3A7C80BF-A82D-1994-D3EB-BBF35F1121C5}"/>
              </a:ext>
            </a:extLst>
          </p:cNvPr>
          <p:cNvSpPr/>
          <p:nvPr/>
        </p:nvSpPr>
        <p:spPr>
          <a:xfrm>
            <a:off x="-1097280" y="-914400"/>
            <a:ext cx="3657600" cy="3657600"/>
          </a:xfrm>
          <a:prstGeom prst="ellipse">
            <a:avLst/>
          </a:prstGeom>
          <a:solidFill>
            <a:srgbClr val="7030A0">
              <a:alpha val="2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42" name="Shape 1">
            <a:extLst>
              <a:ext uri="{FF2B5EF4-FFF2-40B4-BE49-F238E27FC236}">
                <a16:creationId xmlns:a16="http://schemas.microsoft.com/office/drawing/2014/main" id="{F2824E6D-80BF-EAC8-EC6F-799DDB59509F}"/>
              </a:ext>
            </a:extLst>
          </p:cNvPr>
          <p:cNvSpPr/>
          <p:nvPr/>
        </p:nvSpPr>
        <p:spPr>
          <a:xfrm>
            <a:off x="7589520" y="2743200"/>
            <a:ext cx="2743200" cy="2743200"/>
          </a:xfrm>
          <a:prstGeom prst="ellipse">
            <a:avLst/>
          </a:prstGeom>
          <a:solidFill>
            <a:srgbClr val="7030A0">
              <a:alpha val="1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cxnSp>
        <p:nvCxnSpPr>
          <p:cNvPr id="32" name="Összekötő: szögletes 31">
            <a:extLst>
              <a:ext uri="{FF2B5EF4-FFF2-40B4-BE49-F238E27FC236}">
                <a16:creationId xmlns:a16="http://schemas.microsoft.com/office/drawing/2014/main" id="{589265DF-CA6C-53BE-EBE4-7EFAF5A3F076}"/>
              </a:ext>
            </a:extLst>
          </p:cNvPr>
          <p:cNvCxnSpPr>
            <a:endCxn id="15" idx="1"/>
          </p:cNvCxnSpPr>
          <p:nvPr/>
        </p:nvCxnSpPr>
        <p:spPr>
          <a:xfrm rot="16200000" flipH="1">
            <a:off x="1071189" y="3934713"/>
            <a:ext cx="716026" cy="300990"/>
          </a:xfrm>
          <a:prstGeom prst="bentConnector2">
            <a:avLst/>
          </a:prstGeom>
          <a:ln w="28575">
            <a:solidFill>
              <a:srgbClr val="7C3A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Összekötő: szögletes 29">
            <a:extLst>
              <a:ext uri="{FF2B5EF4-FFF2-40B4-BE49-F238E27FC236}">
                <a16:creationId xmlns:a16="http://schemas.microsoft.com/office/drawing/2014/main" id="{9C88B3F6-294B-0104-7554-1B7D21E88262}"/>
              </a:ext>
            </a:extLst>
          </p:cNvPr>
          <p:cNvCxnSpPr>
            <a:endCxn id="10" idx="1"/>
          </p:cNvCxnSpPr>
          <p:nvPr/>
        </p:nvCxnSpPr>
        <p:spPr>
          <a:xfrm rot="16200000" flipH="1">
            <a:off x="349607" y="2611405"/>
            <a:ext cx="710438" cy="423862"/>
          </a:xfrm>
          <a:prstGeom prst="bentConnector2">
            <a:avLst/>
          </a:prstGeom>
          <a:ln w="28575">
            <a:solidFill>
              <a:srgbClr val="1D4E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hape 2"/>
          <p:cNvSpPr/>
          <p:nvPr/>
        </p:nvSpPr>
        <p:spPr>
          <a:xfrm>
            <a:off x="139517" y="1370837"/>
            <a:ext cx="2880361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3167" y="1370837"/>
            <a:ext cx="91440" cy="1097280"/>
          </a:xfrm>
          <a:prstGeom prst="rect">
            <a:avLst/>
          </a:prstGeom>
          <a:solidFill>
            <a:srgbClr val="1D4ED8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85" y="1727453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6757" y="1462277"/>
            <a:ext cx="21031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300" dirty="0">
              <a:latin typeface="Abadi" panose="020B0604020104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6757" y="1828037"/>
            <a:ext cx="21031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Handling Arrival Time and Due Date for every appointment.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16757" y="2629915"/>
            <a:ext cx="2880361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6757" y="2629915"/>
            <a:ext cx="91440" cy="1097280"/>
          </a:xfrm>
          <a:prstGeom prst="rect">
            <a:avLst/>
          </a:prstGeom>
          <a:solidFill>
            <a:srgbClr val="7C3AED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925" y="3004819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3997" y="2721355"/>
            <a:ext cx="21031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Scheduling Engine</a:t>
            </a:r>
            <a:endParaRPr lang="en-US" sz="1300" dirty="0">
              <a:latin typeface="Abadi" panose="020B0604020104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693997" y="3087115"/>
            <a:ext cx="21031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Smart resource allocation across mechanics and service bays.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579697" y="3894581"/>
            <a:ext cx="2880361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579697" y="3894581"/>
            <a:ext cx="91440" cy="1097280"/>
          </a:xfrm>
          <a:prstGeom prst="rect">
            <a:avLst/>
          </a:prstGeom>
          <a:solidFill>
            <a:srgbClr val="10B981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865" y="4269485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356937" y="3986021"/>
            <a:ext cx="21031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300" dirty="0">
              <a:latin typeface="Abadi" panose="020B0604020104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2356937" y="4351781"/>
            <a:ext cx="21031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Managing Customer data and Vehicle specifications.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6E824598-3A33-0433-F96E-FD2556CF8613}"/>
              </a:ext>
            </a:extLst>
          </p:cNvPr>
          <p:cNvSpPr/>
          <p:nvPr/>
        </p:nvSpPr>
        <p:spPr>
          <a:xfrm>
            <a:off x="329184" y="594360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E293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The ARSM Project</a:t>
            </a:r>
            <a:endParaRPr lang="en-US" sz="3200" dirty="0">
              <a:latin typeface="Abadi" panose="020B0604020104020204" pitchFamily="34" charset="0"/>
            </a:endParaRPr>
          </a:p>
        </p:txBody>
      </p:sp>
      <p:pic>
        <p:nvPicPr>
          <p:cNvPr id="31" name="Kép 30">
            <a:extLst>
              <a:ext uri="{FF2B5EF4-FFF2-40B4-BE49-F238E27FC236}">
                <a16:creationId xmlns:a16="http://schemas.microsoft.com/office/drawing/2014/main" id="{4F2C3EE9-D587-E245-63D4-6C2B16BFDC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592" b="21086"/>
          <a:stretch>
            <a:fillRect/>
          </a:stretch>
        </p:blipFill>
        <p:spPr>
          <a:xfrm>
            <a:off x="4814269" y="3676115"/>
            <a:ext cx="4190214" cy="13157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5" name="Kép 34">
            <a:extLst>
              <a:ext uri="{FF2B5EF4-FFF2-40B4-BE49-F238E27FC236}">
                <a16:creationId xmlns:a16="http://schemas.microsoft.com/office/drawing/2014/main" id="{D380C770-CB47-A409-EAF3-8616181BF4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69" b="36916"/>
          <a:stretch>
            <a:fillRect/>
          </a:stretch>
        </p:blipFill>
        <p:spPr>
          <a:xfrm>
            <a:off x="4814269" y="2477946"/>
            <a:ext cx="4190214" cy="13630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0640F60E-092D-0001-4EDF-612B120941D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4821"/>
          <a:stretch>
            <a:fillRect/>
          </a:stretch>
        </p:blipFill>
        <p:spPr>
          <a:xfrm>
            <a:off x="4814269" y="1365018"/>
            <a:ext cx="4190214" cy="12067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2927BA23-C062-C5F4-C0DB-0DCBCA5D77C6}"/>
              </a:ext>
            </a:extLst>
          </p:cNvPr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D4ED8">
              <a:alpha val="16000"/>
            </a:srgbClr>
          </a:solidFill>
          <a:ln w="12700">
            <a:solidFill>
              <a:srgbClr val="1D4ED8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9A9584FA-5B71-2104-88AE-7093BCDA9E17}"/>
              </a:ext>
            </a:extLst>
          </p:cNvPr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37176" y="1559814"/>
            <a:ext cx="3306128" cy="120796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37176" y="1559814"/>
            <a:ext cx="73152" cy="1207960"/>
          </a:xfrm>
          <a:prstGeom prst="rect">
            <a:avLst/>
          </a:prstGeom>
          <a:solidFill>
            <a:srgbClr val="38BDF8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188756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41848" y="1677256"/>
            <a:ext cx="250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641848" y="2125312"/>
            <a:ext cx="250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Admins assign; Mechanics claim or </a:t>
            </a:r>
            <a:r>
              <a:rPr lang="en-US" sz="1200" dirty="0" err="1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unclaim</a:t>
            </a:r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tasks</a:t>
            </a:r>
            <a:r>
              <a:rPr lang="hu-HU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no manual admin bottleneck.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D5B6835B-F4A6-9891-3375-8F198FC31F71}"/>
              </a:ext>
            </a:extLst>
          </p:cNvPr>
          <p:cNvSpPr/>
          <p:nvPr/>
        </p:nvSpPr>
        <p:spPr>
          <a:xfrm>
            <a:off x="329184" y="594360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Key Features &amp; AI Solution</a:t>
            </a:r>
            <a:r>
              <a:rPr lang="hu-HU" sz="32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200" dirty="0">
              <a:latin typeface="Abadi" panose="020B0604020104020204" pitchFamily="34" charset="0"/>
            </a:endParaRPr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C1FB3C45-502C-8CF7-9F3D-6158E5DFA9EB}"/>
              </a:ext>
            </a:extLst>
          </p:cNvPr>
          <p:cNvSpPr/>
          <p:nvPr/>
        </p:nvSpPr>
        <p:spPr>
          <a:xfrm>
            <a:off x="1265872" y="1556194"/>
            <a:ext cx="3306128" cy="12115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067D9B08-1D30-2E1E-C7C7-AA37B059291C}"/>
              </a:ext>
            </a:extLst>
          </p:cNvPr>
          <p:cNvSpPr/>
          <p:nvPr/>
        </p:nvSpPr>
        <p:spPr>
          <a:xfrm>
            <a:off x="2070544" y="1677256"/>
            <a:ext cx="250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43F5E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Zero-Orphan State Machine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CF3FEA0F-E9CE-53D9-AA5E-5C51FB362B3B}"/>
              </a:ext>
            </a:extLst>
          </p:cNvPr>
          <p:cNvSpPr/>
          <p:nvPr/>
        </p:nvSpPr>
        <p:spPr>
          <a:xfrm>
            <a:off x="2070544" y="2125312"/>
            <a:ext cx="250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 task can never be left without an assigned mechanic guaranteed by design.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265872" y="1565338"/>
            <a:ext cx="73152" cy="1202436"/>
          </a:xfrm>
          <a:prstGeom prst="rect">
            <a:avLst/>
          </a:prstGeom>
          <a:solidFill>
            <a:srgbClr val="F43F5E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040" y="1949862"/>
            <a:ext cx="475488" cy="475488"/>
          </a:xfrm>
          <a:prstGeom prst="rect">
            <a:avLst/>
          </a:prstGeom>
        </p:spPr>
      </p:pic>
      <p:sp>
        <p:nvSpPr>
          <p:cNvPr id="29" name="Shape 1">
            <a:extLst>
              <a:ext uri="{FF2B5EF4-FFF2-40B4-BE49-F238E27FC236}">
                <a16:creationId xmlns:a16="http://schemas.microsoft.com/office/drawing/2014/main" id="{53E6CC8D-C2BD-90B5-BD0F-B7E0068DFF61}"/>
              </a:ext>
            </a:extLst>
          </p:cNvPr>
          <p:cNvSpPr/>
          <p:nvPr/>
        </p:nvSpPr>
        <p:spPr>
          <a:xfrm>
            <a:off x="4837176" y="3034283"/>
            <a:ext cx="3306128" cy="120795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0970E3EC-B146-287D-9193-9D3CC199BA0B}"/>
              </a:ext>
            </a:extLst>
          </p:cNvPr>
          <p:cNvSpPr/>
          <p:nvPr/>
        </p:nvSpPr>
        <p:spPr>
          <a:xfrm>
            <a:off x="4837176" y="3034283"/>
            <a:ext cx="73152" cy="1207959"/>
          </a:xfrm>
          <a:prstGeom prst="rect">
            <a:avLst/>
          </a:prstGeom>
          <a:solidFill>
            <a:srgbClr val="10B981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87D9A0A9-0247-8B77-2EE7-5E3A5BDF5600}"/>
              </a:ext>
            </a:extLst>
          </p:cNvPr>
          <p:cNvSpPr/>
          <p:nvPr/>
        </p:nvSpPr>
        <p:spPr>
          <a:xfrm>
            <a:off x="5641848" y="3145822"/>
            <a:ext cx="250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0B98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1A271008-D6B1-5B5D-3FE1-68E10D3D0C22}"/>
              </a:ext>
            </a:extLst>
          </p:cNvPr>
          <p:cNvSpPr/>
          <p:nvPr/>
        </p:nvSpPr>
        <p:spPr>
          <a:xfrm>
            <a:off x="5641848" y="3593878"/>
            <a:ext cx="250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Matrix build + Health-check</a:t>
            </a:r>
            <a:endParaRPr lang="hu-HU" sz="1200" dirty="0">
              <a:latin typeface="Abadi" panose="020B0604020104020204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hu-HU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Backend and Frontend </a:t>
            </a:r>
            <a:r>
              <a:rPr lang="hu-HU" sz="1200" dirty="0" err="1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transitive</a:t>
            </a:r>
            <a:r>
              <a:rPr lang="hu-HU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dirty="0" err="1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dependency</a:t>
            </a:r>
            <a:r>
              <a:rPr lang="hu-HU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dirty="0" err="1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7C340829-5E78-E9B8-C102-D15BA463FB73}"/>
              </a:ext>
            </a:extLst>
          </p:cNvPr>
          <p:cNvSpPr/>
          <p:nvPr/>
        </p:nvSpPr>
        <p:spPr>
          <a:xfrm>
            <a:off x="1265872" y="3030664"/>
            <a:ext cx="3306128" cy="12115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0F0D5F59-A7F6-83FD-0455-A021E4B1F3E5}"/>
              </a:ext>
            </a:extLst>
          </p:cNvPr>
          <p:cNvSpPr/>
          <p:nvPr/>
        </p:nvSpPr>
        <p:spPr>
          <a:xfrm>
            <a:off x="2070544" y="3142202"/>
            <a:ext cx="250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7C3AED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320px Mobile UI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04B1EC73-A995-C4C7-2A22-F6BC881133B4}"/>
              </a:ext>
            </a:extLst>
          </p:cNvPr>
          <p:cNvSpPr/>
          <p:nvPr/>
        </p:nvSpPr>
        <p:spPr>
          <a:xfrm>
            <a:off x="2070544" y="3590258"/>
            <a:ext cx="2501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AI-enforced "Less is More" responsive design using min-w-0 &amp; truncate utilities.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E19B2B91-55A7-668E-33D9-EFA1BD1B2900}"/>
              </a:ext>
            </a:extLst>
          </p:cNvPr>
          <p:cNvSpPr/>
          <p:nvPr/>
        </p:nvSpPr>
        <p:spPr>
          <a:xfrm>
            <a:off x="1265872" y="3039808"/>
            <a:ext cx="73152" cy="1202436"/>
          </a:xfrm>
          <a:prstGeom prst="rect">
            <a:avLst/>
          </a:prstGeom>
          <a:solidFill>
            <a:srgbClr val="7C3AED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7040" y="3409188"/>
            <a:ext cx="475488" cy="475488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344" y="3409188"/>
            <a:ext cx="475488" cy="4754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24" grpId="0" animBg="1"/>
      <p:bldP spid="27" grpId="0" animBg="1"/>
      <p:bldP spid="28" grpId="0" animBg="1"/>
      <p:bldP spid="9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840D0AAB-6A48-854B-ECD0-823A823CCCCF}"/>
              </a:ext>
            </a:extLst>
          </p:cNvPr>
          <p:cNvSpPr/>
          <p:nvPr/>
        </p:nvSpPr>
        <p:spPr>
          <a:xfrm>
            <a:off x="-1097280" y="-914400"/>
            <a:ext cx="3657600" cy="3657600"/>
          </a:xfrm>
          <a:prstGeom prst="ellipse">
            <a:avLst/>
          </a:prstGeom>
          <a:solidFill>
            <a:srgbClr val="7030A0">
              <a:alpha val="20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1628489" y="1554480"/>
            <a:ext cx="2723197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634839" y="1554480"/>
            <a:ext cx="2723197" cy="59847"/>
          </a:xfrm>
          <a:prstGeom prst="rect">
            <a:avLst/>
          </a:prstGeom>
          <a:solidFill>
            <a:srgbClr val="38BDF8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982" y="1954530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66666" y="1650990"/>
            <a:ext cx="2085020" cy="497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Mindset Shift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257521" y="2105655"/>
            <a:ext cx="1938718" cy="497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From manual programmer to "System Orchestrator" delegating execution to AI agents.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5391184E-649E-40D8-15E8-3D9504495282}"/>
              </a:ext>
            </a:extLst>
          </p:cNvPr>
          <p:cNvSpPr/>
          <p:nvPr/>
        </p:nvSpPr>
        <p:spPr>
          <a:xfrm>
            <a:off x="329184" y="594360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Key Takeaways &amp; Thesis Roadmap</a:t>
            </a:r>
            <a:endParaRPr lang="en-US" sz="3200" dirty="0">
              <a:latin typeface="Abadi" panose="020B0604020104020204" pitchFamily="34" charset="0"/>
            </a:endParaRPr>
          </a:p>
        </p:txBody>
      </p:sp>
      <p:sp>
        <p:nvSpPr>
          <p:cNvPr id="48" name="Shape 3">
            <a:extLst>
              <a:ext uri="{FF2B5EF4-FFF2-40B4-BE49-F238E27FC236}">
                <a16:creationId xmlns:a16="http://schemas.microsoft.com/office/drawing/2014/main" id="{9D31E65D-9B2D-E296-DCC0-85094717CE77}"/>
              </a:ext>
            </a:extLst>
          </p:cNvPr>
          <p:cNvSpPr/>
          <p:nvPr/>
        </p:nvSpPr>
        <p:spPr>
          <a:xfrm>
            <a:off x="1628489" y="3038034"/>
            <a:ext cx="2723197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1C194177-7BF9-7AC9-E0D7-800D316FBD45}"/>
              </a:ext>
            </a:extLst>
          </p:cNvPr>
          <p:cNvSpPr/>
          <p:nvPr/>
        </p:nvSpPr>
        <p:spPr>
          <a:xfrm>
            <a:off x="1634839" y="3038034"/>
            <a:ext cx="2723197" cy="59847"/>
          </a:xfrm>
          <a:prstGeom prst="rect">
            <a:avLst/>
          </a:prstGeom>
          <a:solidFill>
            <a:srgbClr val="10B981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13FF0C4F-520D-BA53-70C7-548941A1DD5F}"/>
              </a:ext>
            </a:extLst>
          </p:cNvPr>
          <p:cNvSpPr/>
          <p:nvPr/>
        </p:nvSpPr>
        <p:spPr>
          <a:xfrm>
            <a:off x="2266666" y="3134544"/>
            <a:ext cx="2085020" cy="497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0B981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60A3075D-4EA1-FF66-F3F3-DD98BEA027D7}"/>
              </a:ext>
            </a:extLst>
          </p:cNvPr>
          <p:cNvSpPr/>
          <p:nvPr/>
        </p:nvSpPr>
        <p:spPr>
          <a:xfrm>
            <a:off x="2257521" y="3589209"/>
            <a:ext cx="1938718" cy="497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Moving ARSM to a live server</a:t>
            </a:r>
            <a:r>
              <a:rPr lang="hu-HU" sz="11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real-world validation for the family business.</a:t>
            </a:r>
            <a:endParaRPr lang="en-US" sz="1100" dirty="0">
              <a:latin typeface="Abadi" panose="020B0604020104020204" pitchFamily="34" charset="0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982" y="3505378"/>
            <a:ext cx="393192" cy="393192"/>
          </a:xfrm>
          <a:prstGeom prst="rect">
            <a:avLst/>
          </a:prstGeom>
        </p:spPr>
      </p:pic>
      <p:sp>
        <p:nvSpPr>
          <p:cNvPr id="55" name="Shape 3">
            <a:extLst>
              <a:ext uri="{FF2B5EF4-FFF2-40B4-BE49-F238E27FC236}">
                <a16:creationId xmlns:a16="http://schemas.microsoft.com/office/drawing/2014/main" id="{3A22599C-8B87-44A2-8606-EDA2AAF7F74F}"/>
              </a:ext>
            </a:extLst>
          </p:cNvPr>
          <p:cNvSpPr/>
          <p:nvPr/>
        </p:nvSpPr>
        <p:spPr>
          <a:xfrm>
            <a:off x="4720939" y="1554480"/>
            <a:ext cx="2723197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BC50344D-CDBC-548B-004F-B316418D97F4}"/>
              </a:ext>
            </a:extLst>
          </p:cNvPr>
          <p:cNvSpPr/>
          <p:nvPr/>
        </p:nvSpPr>
        <p:spPr>
          <a:xfrm>
            <a:off x="4727289" y="1554480"/>
            <a:ext cx="2723197" cy="59847"/>
          </a:xfrm>
          <a:prstGeom prst="rect">
            <a:avLst/>
          </a:prstGeom>
          <a:solidFill>
            <a:srgbClr val="F43F5E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0CBDD0BB-182C-09A9-A055-9BFCAA082C1A}"/>
              </a:ext>
            </a:extLst>
          </p:cNvPr>
          <p:cNvSpPr/>
          <p:nvPr/>
        </p:nvSpPr>
        <p:spPr>
          <a:xfrm>
            <a:off x="5359116" y="1650990"/>
            <a:ext cx="2085020" cy="497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43F5E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Testing Focus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72E17988-5B9A-DF19-EF36-FBA71DEE7F9A}"/>
              </a:ext>
            </a:extLst>
          </p:cNvPr>
          <p:cNvSpPr/>
          <p:nvPr/>
        </p:nvSpPr>
        <p:spPr>
          <a:xfrm>
            <a:off x="5349971" y="2105655"/>
            <a:ext cx="1938718" cy="497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Next step: full Playwright E2E integration for real coverage and confidence.</a:t>
            </a:r>
            <a:endParaRPr lang="en-US" sz="1100" dirty="0">
              <a:latin typeface="Abadi" panose="020B0604020104020204" pitchFamily="34" charset="0"/>
            </a:endParaRPr>
          </a:p>
        </p:txBody>
      </p:sp>
      <p:sp>
        <p:nvSpPr>
          <p:cNvPr id="60" name="Shape 3">
            <a:extLst>
              <a:ext uri="{FF2B5EF4-FFF2-40B4-BE49-F238E27FC236}">
                <a16:creationId xmlns:a16="http://schemas.microsoft.com/office/drawing/2014/main" id="{ADECEAA4-745F-F139-00F2-CA2D6CDADF35}"/>
              </a:ext>
            </a:extLst>
          </p:cNvPr>
          <p:cNvSpPr/>
          <p:nvPr/>
        </p:nvSpPr>
        <p:spPr>
          <a:xfrm>
            <a:off x="4720939" y="3038034"/>
            <a:ext cx="2723197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  <a:prstDash val="solid"/>
          </a:ln>
          <a:effectLst>
            <a:outerShdw blurRad="127000" dist="254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A46D1C52-8270-BD40-CCC9-CF28B37999D8}"/>
              </a:ext>
            </a:extLst>
          </p:cNvPr>
          <p:cNvSpPr/>
          <p:nvPr/>
        </p:nvSpPr>
        <p:spPr>
          <a:xfrm>
            <a:off x="4727289" y="3038034"/>
            <a:ext cx="2723197" cy="59847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295B7CE5-A8BC-78A2-5107-158382458F48}"/>
              </a:ext>
            </a:extLst>
          </p:cNvPr>
          <p:cNvSpPr/>
          <p:nvPr/>
        </p:nvSpPr>
        <p:spPr>
          <a:xfrm>
            <a:off x="5359116" y="3134544"/>
            <a:ext cx="2085020" cy="497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59E0B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Local LLM Research</a:t>
            </a:r>
            <a:endParaRPr lang="en-US" sz="1400" dirty="0">
              <a:latin typeface="Abadi" panose="020B0604020104020204" pitchFamily="34" charset="0"/>
            </a:endParaRPr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D47AFFAD-BCCA-F3DB-F9A4-F57050C556C4}"/>
              </a:ext>
            </a:extLst>
          </p:cNvPr>
          <p:cNvSpPr/>
          <p:nvPr/>
        </p:nvSpPr>
        <p:spPr>
          <a:xfrm>
            <a:off x="5349971" y="3589209"/>
            <a:ext cx="1938718" cy="497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RTX 4090 (16GB VRAM) + i9-14900K for fully local, secure agent execution.</a:t>
            </a:r>
            <a:endParaRPr lang="en-US" sz="1100" dirty="0">
              <a:latin typeface="Abadi" panose="020B0604020104020204" pitchFamily="34" charset="0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432" y="3468426"/>
            <a:ext cx="389573" cy="389573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0261" y="1963732"/>
            <a:ext cx="370389" cy="370389"/>
          </a:xfrm>
          <a:prstGeom prst="rect">
            <a:avLst/>
          </a:prstGeom>
        </p:spPr>
      </p:pic>
      <p:sp>
        <p:nvSpPr>
          <p:cNvPr id="10" name="Shape 1">
            <a:extLst>
              <a:ext uri="{FF2B5EF4-FFF2-40B4-BE49-F238E27FC236}">
                <a16:creationId xmlns:a16="http://schemas.microsoft.com/office/drawing/2014/main" id="{6B3818B3-83BA-2FB2-EF61-69D12CB1A01F}"/>
              </a:ext>
            </a:extLst>
          </p:cNvPr>
          <p:cNvSpPr/>
          <p:nvPr/>
        </p:nvSpPr>
        <p:spPr>
          <a:xfrm>
            <a:off x="7589520" y="2743200"/>
            <a:ext cx="2743200" cy="2743200"/>
          </a:xfrm>
          <a:prstGeom prst="ellipse">
            <a:avLst/>
          </a:prstGeom>
          <a:solidFill>
            <a:srgbClr val="7030A0">
              <a:alpha val="18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48" grpId="0" animBg="1"/>
      <p:bldP spid="49" grpId="0" animBg="1"/>
      <p:bldP spid="51" grpId="0" animBg="1"/>
      <p:bldP spid="52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B2264-2B84-E58F-88AC-A4271A4B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0C603B6-4AFE-5DA4-C31F-6604EE4F95B2}"/>
              </a:ext>
            </a:extLst>
          </p:cNvPr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1D4ED8">
              <a:alpha val="16000"/>
            </a:srgbClr>
          </a:solidFill>
          <a:ln w="12700">
            <a:solidFill>
              <a:srgbClr val="1D4ED8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  <p:pic>
        <p:nvPicPr>
          <p:cNvPr id="22" name="Kép 21">
            <a:extLst>
              <a:ext uri="{FF2B5EF4-FFF2-40B4-BE49-F238E27FC236}">
                <a16:creationId xmlns:a16="http://schemas.microsoft.com/office/drawing/2014/main" id="{69E2999E-B4BF-E3FA-87FE-6127399EC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263" y="1293385"/>
            <a:ext cx="5545474" cy="289761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7" name="Text 0">
            <a:extLst>
              <a:ext uri="{FF2B5EF4-FFF2-40B4-BE49-F238E27FC236}">
                <a16:creationId xmlns:a16="http://schemas.microsoft.com/office/drawing/2014/main" id="{FA1AF924-5B0D-D893-0127-251867989A39}"/>
              </a:ext>
            </a:extLst>
          </p:cNvPr>
          <p:cNvSpPr/>
          <p:nvPr/>
        </p:nvSpPr>
        <p:spPr>
          <a:xfrm>
            <a:off x="329184" y="594360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u-HU" sz="3200" b="1" dirty="0" err="1">
                <a:latin typeface="Abadi" panose="020B0604020104020204" pitchFamily="34" charset="0"/>
              </a:rPr>
              <a:t>Any</a:t>
            </a:r>
            <a:r>
              <a:rPr lang="hu-HU" sz="3200" b="1" dirty="0">
                <a:latin typeface="Abadi" panose="020B0604020104020204" pitchFamily="34" charset="0"/>
              </a:rPr>
              <a:t> </a:t>
            </a:r>
            <a:r>
              <a:rPr lang="hu-HU" sz="3200" b="1" dirty="0" err="1">
                <a:latin typeface="Abadi" panose="020B0604020104020204" pitchFamily="34" charset="0"/>
              </a:rPr>
              <a:t>Questions</a:t>
            </a:r>
            <a:r>
              <a:rPr lang="hu-HU" sz="3200" b="1" dirty="0">
                <a:latin typeface="Abadi" panose="020B0604020104020204" pitchFamily="34" charset="0"/>
              </a:rPr>
              <a:t>?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48B4762-85D6-9BC2-0038-F4493EDFC584}"/>
              </a:ext>
            </a:extLst>
          </p:cNvPr>
          <p:cNvSpPr/>
          <p:nvPr/>
        </p:nvSpPr>
        <p:spPr>
          <a:xfrm>
            <a:off x="329184" y="4274820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Abadi" panose="020B0604020104020204" pitchFamily="34" charset="0"/>
              </a:rPr>
              <a:t>Thank you for your attention!</a:t>
            </a:r>
            <a:endParaRPr lang="hu-HU" sz="2800" b="1" dirty="0">
              <a:latin typeface="Abadi" panose="020B0604020104020204" pitchFamily="3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EDD231A-57F6-2180-F3C2-3AE5486477FF}"/>
              </a:ext>
            </a:extLst>
          </p:cNvPr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7C3AED">
              <a:alpha val="16000"/>
            </a:srgbClr>
          </a:solidFill>
          <a:ln w="12700">
            <a:solidFill>
              <a:srgbClr val="7C3AED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hu-HU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66069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583</Words>
  <Application>Microsoft Office PowerPoint</Application>
  <PresentationFormat>Diavetítés a képernyőre (16:9 oldalarány)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4" baseType="lpstr">
      <vt:lpstr>Abadi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Supported Software Development</dc:title>
  <dc:subject>PptxGenJS Presentation</dc:subject>
  <dc:creator>Patrik Zsolt Hajdú</dc:creator>
  <cp:lastModifiedBy>Hajdú Patrik Zsolt</cp:lastModifiedBy>
  <cp:revision>40</cp:revision>
  <dcterms:created xsi:type="dcterms:W3CDTF">2026-05-17T21:10:39Z</dcterms:created>
  <dcterms:modified xsi:type="dcterms:W3CDTF">2026-05-18T10:21:05Z</dcterms:modified>
</cp:coreProperties>
</file>